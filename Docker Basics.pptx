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2" r:id="rId16"/>
    <p:sldId id="269" r:id="rId17"/>
    <p:sldId id="270" r:id="rId18"/>
    <p:sldId id="271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9.xml"/><Relationship Id="rId2" Type="http://schemas.openxmlformats.org/officeDocument/2006/relationships/image" Target="../media/image1.png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image" Target="../media/image2.png"/><Relationship Id="rId1" Type="http://schemas.openxmlformats.org/officeDocument/2006/relationships/tags" Target="../tags/tag80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image" Target="../media/image3.png"/><Relationship Id="rId1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5.xml"/><Relationship Id="rId2" Type="http://schemas.openxmlformats.org/officeDocument/2006/relationships/image" Target="../media/image4.png"/><Relationship Id="rId1" Type="http://schemas.openxmlformats.org/officeDocument/2006/relationships/tags" Target="../tags/tag84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8.xml"/><Relationship Id="rId3" Type="http://schemas.openxmlformats.org/officeDocument/2006/relationships/image" Target="../media/image5.png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1.xml"/><Relationship Id="rId3" Type="http://schemas.openxmlformats.org/officeDocument/2006/relationships/image" Target="../media/image6.png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4.xml"/><Relationship Id="rId3" Type="http://schemas.openxmlformats.org/officeDocument/2006/relationships/image" Target="../media/image7.png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7.xml"/><Relationship Id="rId3" Type="http://schemas.openxmlformats.org/officeDocument/2006/relationships/image" Target="../media/image8.png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6.xml"/><Relationship Id="rId3" Type="http://schemas.openxmlformats.org/officeDocument/2006/relationships/image" Target="../media/image9.png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5.xml"/><Relationship Id="rId3" Type="http://schemas.openxmlformats.org/officeDocument/2006/relationships/image" Target="../media/image10.png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8.xml"/><Relationship Id="rId3" Type="http://schemas.openxmlformats.org/officeDocument/2006/relationships/image" Target="../media/image11.png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4.xml"/><Relationship Id="rId3" Type="http://schemas.openxmlformats.org/officeDocument/2006/relationships/image" Target="../media/image12.png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0.xml"/><Relationship Id="rId3" Type="http://schemas.openxmlformats.org/officeDocument/2006/relationships/image" Target="../media/image13.png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3.xml"/><Relationship Id="rId3" Type="http://schemas.openxmlformats.org/officeDocument/2006/relationships/image" Target="../media/image14.png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9.xml"/><Relationship Id="rId3" Type="http://schemas.openxmlformats.org/officeDocument/2006/relationships/image" Target="../media/image15.png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Docker Basics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en-US"/>
              <a:t>Vraj Suratwala</a:t>
            </a:r>
            <a:endParaRPr lang="en-US"/>
          </a:p>
          <a:p>
            <a:r>
              <a:rPr lang="en-US"/>
              <a:t>MSA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What is Docker?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Docker is a lightweight platform used to containerize, package, ship, and run applications along with all their required dependencies.</a:t>
            </a:r>
            <a:endParaRPr lang="en-US" altLang="en-US"/>
          </a:p>
          <a:p>
            <a:r>
              <a:rPr lang="en-US" altLang="en-US"/>
              <a:t>For example, instead of installing:</a:t>
            </a:r>
            <a:endParaRPr lang="en-US" altLang="en-US"/>
          </a:p>
          <a:p>
            <a:r>
              <a:rPr lang="en-US" altLang="en-US"/>
              <a:t>Application</a:t>
            </a:r>
            <a:endParaRPr lang="en-US" altLang="en-US"/>
          </a:p>
          <a:p>
            <a:pPr lvl="1"/>
            <a:r>
              <a:rPr lang="en-US" altLang="en-US"/>
              <a:t>Python</a:t>
            </a:r>
            <a:endParaRPr lang="en-US" altLang="en-US"/>
          </a:p>
          <a:p>
            <a:pPr lvl="1"/>
            <a:r>
              <a:rPr lang="en-US" altLang="en-US"/>
              <a:t>Libraries</a:t>
            </a:r>
            <a:endParaRPr lang="en-US" altLang="en-US"/>
          </a:p>
          <a:p>
            <a:pPr lvl="1"/>
            <a:r>
              <a:rPr lang="en-US" altLang="en-US"/>
              <a:t>Configuration</a:t>
            </a:r>
            <a:endParaRPr lang="en-US" altLang="en-US"/>
          </a:p>
          <a:p>
            <a:pPr lvl="1"/>
            <a:r>
              <a:rPr lang="en-US" altLang="en-US"/>
              <a:t>Database dependencies</a:t>
            </a:r>
            <a:endParaRPr lang="en-US" altLang="en-US"/>
          </a:p>
          <a:p>
            <a:r>
              <a:rPr lang="en-US" altLang="en-US"/>
              <a:t>separately on every computer, Docker packages the required environment into a Docker image, which is then used to create a container.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Why Docker?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Suppose a developer creates an application on their computer:</a:t>
            </a:r>
            <a:endParaRPr lang="en-US" altLang="en-US"/>
          </a:p>
          <a:p>
            <a:pPr lvl="1"/>
            <a:r>
              <a:rPr lang="en-US" altLang="en-US"/>
              <a:t>Developer Machine</a:t>
            </a:r>
            <a:endParaRPr lang="en-US" altLang="en-US"/>
          </a:p>
          <a:p>
            <a:pPr lvl="1"/>
            <a:r>
              <a:rPr lang="en-US" altLang="en-US"/>
              <a:t>Application</a:t>
            </a:r>
            <a:endParaRPr lang="en-US" altLang="en-US"/>
          </a:p>
          <a:p>
            <a:pPr lvl="1"/>
            <a:r>
              <a:rPr lang="en-US" altLang="en-US"/>
              <a:t>Python 3.x</a:t>
            </a:r>
            <a:endParaRPr lang="en-US" altLang="en-US"/>
          </a:p>
          <a:p>
            <a:pPr lvl="1"/>
            <a:r>
              <a:rPr lang="en-US" altLang="en-US"/>
              <a:t>Library A</a:t>
            </a:r>
            <a:endParaRPr lang="en-US" altLang="en-US"/>
          </a:p>
          <a:p>
            <a:pPr lvl="1"/>
            <a:r>
              <a:rPr lang="en-US" altLang="en-US"/>
              <a:t>Library B</a:t>
            </a:r>
            <a:endParaRPr lang="en-US" altLang="en-US"/>
          </a:p>
          <a:p>
            <a:pPr lvl="1"/>
            <a:r>
              <a:rPr lang="en-US" altLang="en-US"/>
              <a:t>Configuration</a:t>
            </a:r>
            <a:endParaRPr lang="en-US" altLang="en-US"/>
          </a:p>
          <a:p>
            <a:r>
              <a:rPr lang="en-US" altLang="en-US"/>
              <a:t>It works on the developer's machine but fails on another machine because of different versions or missing dependencies.</a:t>
            </a:r>
            <a:endParaRPr lang="en-US" altLang="en-US"/>
          </a:p>
          <a:p>
            <a:r>
              <a:rPr lang="en-US" altLang="en-US"/>
              <a:t>So what is the Solution ? 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Why Docker 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Docker solves this by packaging the application and its dependencies together:</a:t>
            </a:r>
            <a:endParaRPr lang="en-US" altLang="en-US"/>
          </a:p>
          <a:p>
            <a:r>
              <a:rPr lang="en-US" altLang="en-US"/>
              <a:t>Docker Image</a:t>
            </a:r>
            <a:endParaRPr lang="en-US" altLang="en-US"/>
          </a:p>
          <a:p>
            <a:r>
              <a:rPr lang="en-US" altLang="en-US"/>
              <a:t> ├── Application</a:t>
            </a:r>
            <a:endParaRPr lang="en-US" altLang="en-US"/>
          </a:p>
          <a:p>
            <a:r>
              <a:rPr lang="en-US" altLang="en-US"/>
              <a:t> ├── Dependencies</a:t>
            </a:r>
            <a:endParaRPr lang="en-US" altLang="en-US"/>
          </a:p>
          <a:p>
            <a:r>
              <a:rPr lang="en-US" altLang="en-US"/>
              <a:t> ├── Libraries</a:t>
            </a:r>
            <a:endParaRPr lang="en-US" altLang="en-US"/>
          </a:p>
          <a:p>
            <a:r>
              <a:rPr lang="en-US" altLang="en-US"/>
              <a:t> └── Configuration</a:t>
            </a:r>
            <a:endParaRPr lang="en-US" altLang="en-US"/>
          </a:p>
          <a:p>
            <a:r>
              <a:rPr lang="en-US" altLang="en-US"/>
              <a:t>          ↓</a:t>
            </a:r>
            <a:endParaRPr lang="en-US" altLang="en-US"/>
          </a:p>
          <a:p>
            <a:r>
              <a:rPr lang="en-US" altLang="en-US"/>
              <a:t>       Container</a:t>
            </a:r>
            <a:endParaRPr lang="en-US" altLang="en-US"/>
          </a:p>
          <a:p>
            <a:r>
              <a:rPr lang="en-US" altLang="en-US"/>
              <a:t>          ↓</a:t>
            </a:r>
            <a:endParaRPr lang="en-US" altLang="en-US"/>
          </a:p>
          <a:p>
            <a:r>
              <a:rPr lang="en-US" altLang="en-US"/>
              <a:t>     Runs anywhere</a:t>
            </a:r>
            <a:endParaRPr lang="en-US" altLang="en-US"/>
          </a:p>
          <a:p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5117465" y="2349500"/>
            <a:ext cx="6096000" cy="36868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en-US">
                <a:sym typeface="+mn-ea"/>
              </a:rPr>
              <a:t>This provides consistency between:</a:t>
            </a:r>
            <a:endParaRPr lang="en-US" altLang="en-US"/>
          </a:p>
          <a:p>
            <a:pPr algn="ctr"/>
            <a:r>
              <a:rPr lang="en-US" altLang="en-US" sz="2400">
                <a:sym typeface="+mn-ea"/>
              </a:rPr>
              <a:t>Development</a:t>
            </a:r>
            <a:endParaRPr lang="en-US" altLang="en-US" sz="2400"/>
          </a:p>
          <a:p>
            <a:pPr algn="ctr"/>
            <a:r>
              <a:rPr lang="en-US" altLang="en-US" sz="2400">
                <a:sym typeface="+mn-ea"/>
              </a:rPr>
              <a:t>Testing</a:t>
            </a:r>
            <a:endParaRPr lang="en-US" altLang="en-US" sz="2400"/>
          </a:p>
          <a:p>
            <a:pPr algn="ctr"/>
            <a:r>
              <a:rPr lang="en-US" altLang="en-US" sz="2400">
                <a:sym typeface="+mn-ea"/>
              </a:rPr>
              <a:t>Production</a:t>
            </a:r>
            <a:endParaRPr lang="en-US" altLang="en-US" sz="2400"/>
          </a:p>
          <a:p>
            <a:pPr algn="ctr"/>
            <a:r>
              <a:rPr lang="en-US" altLang="en-US" sz="2400">
                <a:sym typeface="+mn-ea"/>
              </a:rPr>
              <a:t>Cloud environments</a:t>
            </a:r>
            <a:endParaRPr lang="en-US" altLang="en-US" sz="240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Important Docker Terms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There are four important terms you should remember:</a:t>
            </a:r>
            <a:endParaRPr lang="en-US" altLang="en-US"/>
          </a:p>
          <a:p>
            <a:pPr lvl="1"/>
            <a:r>
              <a:rPr lang="en-US" altLang="en-US"/>
              <a:t>Docker Image</a:t>
            </a:r>
            <a:endParaRPr lang="en-US" altLang="en-US"/>
          </a:p>
          <a:p>
            <a:pPr lvl="1"/>
            <a:r>
              <a:rPr lang="en-US" altLang="en-US"/>
              <a:t>Docker Container</a:t>
            </a:r>
            <a:endParaRPr lang="en-US" altLang="en-US"/>
          </a:p>
          <a:p>
            <a:pPr lvl="1"/>
            <a:r>
              <a:rPr lang="en-US" altLang="en-US"/>
              <a:t>Docker Engine</a:t>
            </a:r>
            <a:endParaRPr lang="en-US" altLang="en-US"/>
          </a:p>
          <a:p>
            <a:pPr lvl="1"/>
            <a:r>
              <a:rPr lang="en-US" altLang="en-US"/>
              <a:t>Docker Registry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608330"/>
            <a:ext cx="6739255" cy="58267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608330"/>
            <a:ext cx="6739255" cy="58267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608330"/>
            <a:ext cx="6374130" cy="55111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608330"/>
            <a:ext cx="6924040" cy="47593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Comparision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4690" y="1490345"/>
            <a:ext cx="660908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08330"/>
            <a:ext cx="10968990" cy="5949315"/>
          </a:xfrm>
        </p:spPr>
        <p:txBody>
          <a:bodyPr/>
          <a:p>
            <a:pPr algn="ctr"/>
            <a:r>
              <a:rPr lang="en-US"/>
              <a:t>D							Docker </a:t>
            </a:r>
            <a:br>
              <a:rPr lang="en-US"/>
            </a:br>
            <a:r>
              <a:rPr lang="en-US"/>
              <a:t>							Container </a:t>
            </a:r>
            <a:br>
              <a:rPr lang="en-US"/>
            </a:br>
            <a:r>
              <a:rPr lang="en-US"/>
              <a:t>							VS</a:t>
            </a:r>
            <a:br>
              <a:rPr lang="en-US"/>
            </a:br>
            <a:r>
              <a:rPr lang="en-US"/>
              <a:t>							Virtual </a:t>
            </a:r>
            <a:br>
              <a:rPr lang="en-US"/>
            </a:br>
            <a:r>
              <a:rPr lang="en-US"/>
              <a:t>							Machine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608330"/>
            <a:ext cx="6730365" cy="581469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7511415" y="5289550"/>
            <a:ext cx="4680585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endParaRPr sz="1600" b="0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0" indent="0"/>
            <a:r>
              <a:rPr lang="en-US" sz="1600" b="0" i="0">
                <a:solidFill>
                  <a:srgbClr val="000000"/>
                </a:solidFill>
                <a:latin typeface="-webkit-standard"/>
                <a:ea typeface="-webkit-standard"/>
              </a:rPr>
              <a:t>Main Difference</a:t>
            </a:r>
            <a:br>
              <a:rPr lang="en-US" sz="1600" b="0" i="0">
                <a:solidFill>
                  <a:srgbClr val="000000"/>
                </a:solidFill>
                <a:latin typeface="-webkit-standard"/>
                <a:ea typeface="-webkit-standard"/>
              </a:rPr>
            </a:br>
            <a:endParaRPr sz="1600" b="0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0" indent="0"/>
            <a:r>
              <a:rPr sz="1600" b="0" i="0">
                <a:solidFill>
                  <a:srgbClr val="000000"/>
                </a:solidFill>
                <a:latin typeface="-webkit-standard"/>
                <a:ea typeface="-webkit-standard"/>
              </a:rPr>
              <a:t>VM virtualizes hardware/complete operating systems, while containers isolate applications while sharing the host OS kernel.</a:t>
            </a:r>
            <a:endParaRPr sz="1600" b="0" i="0">
              <a:solidFill>
                <a:srgbClr val="000000"/>
              </a:solidFill>
              <a:latin typeface="-webkit-standard"/>
              <a:ea typeface="-webkit-standard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Docker Architecture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6595" y="1490345"/>
            <a:ext cx="728853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Docker Workflow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490345"/>
            <a:ext cx="6561455" cy="51365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Docker Command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Practical Portion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Docker Commands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Installing Docker</a:t>
            </a:r>
            <a:endParaRPr lang="en-US" altLang="en-US"/>
          </a:p>
          <a:p>
            <a:pPr lvl="1"/>
            <a:r>
              <a:rPr lang="en-US" altLang="en-US"/>
              <a:t>sudo apt-get install docker-ce</a:t>
            </a:r>
            <a:endParaRPr lang="en-US" altLang="en-US"/>
          </a:p>
          <a:p>
            <a:pPr lvl="0"/>
            <a:r>
              <a:rPr lang="en-US" altLang="en-US"/>
              <a:t>Pulling an Image</a:t>
            </a:r>
            <a:endParaRPr lang="en-US" altLang="en-US"/>
          </a:p>
          <a:p>
            <a:pPr lvl="1"/>
            <a:r>
              <a:rPr lang="en-US" altLang="en-US"/>
              <a:t>docker pull mysql/mysql-server:5.7</a:t>
            </a:r>
            <a:endParaRPr lang="en-US" altLang="en-US"/>
          </a:p>
          <a:p>
            <a:pPr lvl="1"/>
            <a:r>
              <a:rPr lang="en-US" altLang="en-US"/>
              <a:t>docker pull &lt;image_name&gt;:&lt;tag&gt;</a:t>
            </a:r>
            <a:endParaRPr lang="en-US" altLang="en-US"/>
          </a:p>
          <a:p>
            <a:pPr lvl="2"/>
            <a:r>
              <a:rPr lang="en-US" altLang="en-US"/>
              <a:t>docker pull node:latest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Here:</a:t>
            </a:r>
            <a:endParaRPr lang="en-US" altLang="en-US"/>
          </a:p>
          <a:p>
            <a:pPr lvl="1"/>
            <a:r>
              <a:rPr lang="en-US" altLang="en-US"/>
              <a:t>node = image name</a:t>
            </a:r>
            <a:endParaRPr lang="en-US" altLang="en-US"/>
          </a:p>
          <a:p>
            <a:pPr lvl="1"/>
            <a:r>
              <a:rPr lang="en-US" altLang="en-US"/>
              <a:t>latest = tag/version label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Docker Commands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List Docker Images</a:t>
            </a:r>
            <a:endParaRPr lang="en-US" altLang="en-US"/>
          </a:p>
          <a:p>
            <a:pPr lvl="1"/>
            <a:r>
              <a:rPr lang="en-US" altLang="en-US"/>
              <a:t>docker image ls</a:t>
            </a:r>
            <a:endParaRPr lang="en-US" altLang="en-US"/>
          </a:p>
          <a:p>
            <a:pPr lvl="2"/>
            <a:r>
              <a:rPr lang="en-US" altLang="en-US"/>
              <a:t>or</a:t>
            </a:r>
            <a:endParaRPr lang="en-US" altLang="en-US"/>
          </a:p>
          <a:p>
            <a:pPr lvl="1"/>
            <a:r>
              <a:rPr lang="en-US" altLang="en-US"/>
              <a:t>docker images</a:t>
            </a:r>
            <a:endParaRPr lang="en-US" altLang="en-US"/>
          </a:p>
          <a:p>
            <a:pPr lvl="0"/>
            <a:endParaRPr lang="en-US" altLang="en-US"/>
          </a:p>
          <a:p>
            <a:pPr lvl="0"/>
            <a:r>
              <a:rPr lang="en-US" altLang="en-US"/>
              <a:t>Running a Container</a:t>
            </a:r>
            <a:endParaRPr lang="en-US" altLang="en-US"/>
          </a:p>
          <a:p>
            <a:pPr lvl="1"/>
            <a:r>
              <a:rPr lang="en-US" altLang="en-US"/>
              <a:t>docker container run &lt;image&gt;</a:t>
            </a:r>
            <a:endParaRPr lang="en-US" altLang="en-US"/>
          </a:p>
          <a:p>
            <a:pPr lvl="2"/>
            <a:r>
              <a:rPr lang="en-US" altLang="en-US"/>
              <a:t>Example:</a:t>
            </a:r>
            <a:endParaRPr lang="en-US" altLang="en-US"/>
          </a:p>
          <a:p>
            <a:pPr lvl="2"/>
            <a:r>
              <a:rPr lang="en-US" altLang="en-US"/>
              <a:t>docker container run -d -p 5000:5000 --name node node:latest</a:t>
            </a:r>
            <a:endParaRPr lang="en-US" altLang="en-US"/>
          </a:p>
          <a:p>
            <a:pPr lvl="1"/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850" y="5191125"/>
            <a:ext cx="5552440" cy="16668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Port Mapping - Docker Commands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Suppose an application inside the container runs on port 8080.</a:t>
            </a:r>
            <a:endParaRPr lang="en-US" altLang="en-US"/>
          </a:p>
          <a:p>
            <a:r>
              <a:rPr lang="en-US" altLang="en-US"/>
              <a:t>You want to access it through port 9070 on your computer.</a:t>
            </a:r>
            <a:endParaRPr lang="en-US" altLang="en-US"/>
          </a:p>
          <a:p>
            <a:pPr lvl="1"/>
            <a:r>
              <a:rPr lang="en-US" altLang="en-US"/>
              <a:t>docker run --name=web -p 9070:8080 mywebapp:1.0</a:t>
            </a:r>
            <a:endParaRPr lang="en-US" altLang="en-US"/>
          </a:p>
          <a:p>
            <a:pPr lvl="0"/>
            <a:endParaRPr lang="en-US" altLang="en-US"/>
          </a:p>
          <a:p>
            <a:pPr lvl="0"/>
            <a:r>
              <a:rPr lang="en-US" altLang="en-US"/>
              <a:t>Meaning:</a:t>
            </a:r>
            <a:endParaRPr lang="en-US" altLang="en-US"/>
          </a:p>
          <a:p>
            <a:pPr lvl="0"/>
            <a:r>
              <a:rPr lang="en-US" altLang="en-US"/>
              <a:t>Host machine                 Container</a:t>
            </a:r>
            <a:endParaRPr lang="en-US" altLang="en-US"/>
          </a:p>
          <a:p>
            <a:pPr lvl="0"/>
            <a:r>
              <a:rPr lang="en-US" altLang="en-US"/>
              <a:t>Port 9070       ─────────→   Port 8080</a:t>
            </a:r>
            <a:endParaRPr lang="en-US" altLang="en-US"/>
          </a:p>
          <a:p>
            <a:pPr lvl="0"/>
            <a:endParaRPr lang="en-US" altLang="en-US"/>
          </a:p>
          <a:p>
            <a:pPr lvl="1"/>
            <a:r>
              <a:rPr lang="en-US" altLang="en-US"/>
              <a:t>So you access: localhost:9070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Docker Commands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en-US"/>
              <a:t>Checking Running Containers </a:t>
            </a:r>
            <a:endParaRPr lang="en-US" altLang="en-US"/>
          </a:p>
          <a:p>
            <a:pPr lvl="1"/>
            <a:r>
              <a:rPr lang="en-US" altLang="en-US"/>
              <a:t>docker container ps</a:t>
            </a:r>
            <a:endParaRPr lang="en-US" altLang="en-US"/>
          </a:p>
          <a:p>
            <a:pPr lvl="1"/>
            <a:r>
              <a:rPr lang="en-US" altLang="en-US"/>
              <a:t>To see all containers, including stopped ones:</a:t>
            </a:r>
            <a:endParaRPr lang="en-US" altLang="en-US"/>
          </a:p>
          <a:p>
            <a:pPr lvl="2"/>
            <a:r>
              <a:rPr lang="en-US" altLang="en-US"/>
              <a:t>docker container ps -a</a:t>
            </a:r>
            <a:endParaRPr lang="en-US" altLang="en-US"/>
          </a:p>
          <a:p>
            <a:pPr lvl="0"/>
            <a:r>
              <a:rPr lang="en-US" altLang="en-US"/>
              <a:t>Stopping a Container</a:t>
            </a:r>
            <a:endParaRPr lang="en-US" altLang="en-US"/>
          </a:p>
          <a:p>
            <a:pPr lvl="1"/>
            <a:r>
              <a:rPr lang="en-US" altLang="en-US"/>
              <a:t>docker container stop node</a:t>
            </a:r>
            <a:endParaRPr lang="en-US" altLang="en-US"/>
          </a:p>
          <a:p>
            <a:pPr lvl="1"/>
            <a:r>
              <a:rPr lang="en-US" altLang="en-US"/>
              <a:t>or:</a:t>
            </a:r>
            <a:endParaRPr lang="en-US" altLang="en-US"/>
          </a:p>
          <a:p>
            <a:pPr lvl="1"/>
            <a:r>
              <a:rPr lang="en-US" altLang="en-US"/>
              <a:t>docker stop node</a:t>
            </a:r>
            <a:endParaRPr lang="en-US" altLang="en-US"/>
          </a:p>
          <a:p>
            <a:pPr lvl="2"/>
            <a:r>
              <a:rPr lang="en-US" altLang="en-US"/>
              <a:t>From Container ID :</a:t>
            </a:r>
            <a:endParaRPr lang="en-US" altLang="en-US"/>
          </a:p>
          <a:p>
            <a:pPr lvl="3"/>
            <a:r>
              <a:rPr lang="en-US" altLang="en-US"/>
              <a:t>docker stop &lt;container_id&gt;</a:t>
            </a:r>
            <a:endParaRPr lang="en-US" altLang="en-US"/>
          </a:p>
          <a:p>
            <a:pPr lvl="0"/>
            <a:r>
              <a:rPr lang="en-US" altLang="en-US"/>
              <a:t>Removing a Container</a:t>
            </a:r>
            <a:endParaRPr lang="en-US" altLang="en-US"/>
          </a:p>
          <a:p>
            <a:pPr lvl="1"/>
            <a:r>
              <a:rPr lang="en-US" altLang="en-US"/>
              <a:t>docker container rm node</a:t>
            </a:r>
            <a:endParaRPr lang="en-US" altLang="en-US"/>
          </a:p>
          <a:p>
            <a:pPr lvl="3"/>
            <a:r>
              <a:rPr lang="en-US" altLang="en-US"/>
              <a:t>or</a:t>
            </a:r>
            <a:endParaRPr lang="en-US" altLang="en-US"/>
          </a:p>
          <a:p>
            <a:pPr lvl="1"/>
            <a:r>
              <a:rPr lang="en-US" altLang="en-US"/>
              <a:t>docker rm node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Docker Commands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Removing an Image</a:t>
            </a:r>
            <a:endParaRPr lang="en-US" altLang="en-US"/>
          </a:p>
          <a:p>
            <a:pPr lvl="1"/>
            <a:r>
              <a:rPr lang="en-US" altLang="en-US"/>
              <a:t>docker image rm node</a:t>
            </a:r>
            <a:endParaRPr lang="en-US" altLang="en-US"/>
          </a:p>
          <a:p>
            <a:pPr lvl="2"/>
            <a:r>
              <a:rPr lang="en-US" altLang="en-US"/>
              <a:t>or:</a:t>
            </a:r>
            <a:endParaRPr lang="en-US" altLang="en-US"/>
          </a:p>
          <a:p>
            <a:pPr lvl="1"/>
            <a:r>
              <a:rPr lang="en-US" altLang="en-US"/>
              <a:t>docker rmi node</a:t>
            </a:r>
            <a:endParaRPr lang="en-US" altLang="en-US"/>
          </a:p>
          <a:p>
            <a:pPr lvl="1"/>
            <a:endParaRPr lang="en-US" altLang="en-US"/>
          </a:p>
          <a:p>
            <a:pPr lvl="0"/>
            <a:r>
              <a:rPr lang="en-US" altLang="en-US"/>
              <a:t>Dockerfile</a:t>
            </a:r>
            <a:endParaRPr lang="en-US" altLang="en-US"/>
          </a:p>
          <a:p>
            <a:pPr lvl="0"/>
            <a:r>
              <a:rPr lang="en-US" altLang="en-US"/>
              <a:t>A Dockerfile is a text file containing </a:t>
            </a:r>
            <a:br>
              <a:rPr lang="en-US" altLang="en-US"/>
            </a:br>
            <a:r>
              <a:rPr lang="en-US" altLang="en-US"/>
              <a:t>instructions for building a Docker </a:t>
            </a:r>
            <a:br>
              <a:rPr lang="en-US" altLang="en-US"/>
            </a:br>
            <a:r>
              <a:rPr lang="en-US" altLang="en-US"/>
              <a:t>image</a:t>
            </a:r>
            <a:r>
              <a:rPr lang="en-US" altLang="en-US" sz="1800"/>
              <a:t>.</a:t>
            </a:r>
            <a:endParaRPr lang="en-US" altLang="en-US" sz="1800"/>
          </a:p>
          <a:p>
            <a:pPr lvl="1"/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225" y="0"/>
            <a:ext cx="6581775" cy="62496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Docker Command :  Building an Image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83260" y="1490345"/>
            <a:ext cx="656272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Additional Concepts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Small One’s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Docker Volumes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A Docker Volume is used to persist data outside the container's writable layer.</a:t>
            </a:r>
            <a:endParaRPr lang="en-US" altLang="en-US"/>
          </a:p>
          <a:p>
            <a:r>
              <a:rPr lang="en-US" altLang="en-US"/>
              <a:t>This is important because a container can be deleted, but application data may need to remain.</a:t>
            </a:r>
            <a:endParaRPr lang="en-US" altLang="en-US"/>
          </a:p>
          <a:p>
            <a:r>
              <a:rPr lang="en-US" altLang="en-US"/>
              <a:t>Why use volumes?</a:t>
            </a:r>
            <a:endParaRPr lang="en-US" altLang="en-US"/>
          </a:p>
          <a:p>
            <a:pPr lvl="1"/>
            <a:r>
              <a:rPr lang="en-US" altLang="en-US"/>
              <a:t>Persist data</a:t>
            </a:r>
            <a:endParaRPr lang="en-US" altLang="en-US"/>
          </a:p>
          <a:p>
            <a:pPr lvl="1"/>
            <a:r>
              <a:rPr lang="en-US" altLang="en-US"/>
              <a:t>Share data between containers</a:t>
            </a:r>
            <a:endParaRPr lang="en-US" altLang="en-US"/>
          </a:p>
          <a:p>
            <a:pPr lvl="1"/>
            <a:r>
              <a:rPr lang="en-US" altLang="en-US"/>
              <a:t>Store database data</a:t>
            </a:r>
            <a:endParaRPr lang="en-US" altLang="en-US"/>
          </a:p>
          <a:p>
            <a:pPr lvl="1"/>
            <a:r>
              <a:rPr lang="en-US" altLang="en-US"/>
              <a:t>Keep data even after container deletion</a:t>
            </a:r>
            <a:endParaRPr lang="en-US" altLang="en-US"/>
          </a:p>
          <a:p>
            <a:pPr lvl="1"/>
            <a:r>
              <a:rPr lang="en-US" altLang="en-US"/>
              <a:t>Mount source code into containers</a:t>
            </a:r>
            <a:endParaRPr lang="en-US" altLang="en-US"/>
          </a:p>
          <a:p>
            <a:pPr lvl="0"/>
            <a:r>
              <a:rPr lang="en-US" altLang="en-US"/>
              <a:t>Example : </a:t>
            </a:r>
            <a:endParaRPr lang="en-US" altLang="en-US"/>
          </a:p>
          <a:p>
            <a:pPr lvl="1"/>
            <a:r>
              <a:rPr lang="en-US" altLang="en-US"/>
              <a:t>docker run -v /home/data:/var/lib/mysql mysql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885" y="3092450"/>
            <a:ext cx="2501900" cy="25781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Meaning of Above 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Host:</a:t>
            </a:r>
            <a:endParaRPr lang="en-US" altLang="en-US"/>
          </a:p>
          <a:p>
            <a:pPr lvl="1"/>
            <a:r>
              <a:rPr lang="en-US" altLang="en-US"/>
              <a:t>/home/data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        ↓ mounted to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Container:</a:t>
            </a:r>
            <a:endParaRPr lang="en-US" altLang="en-US"/>
          </a:p>
          <a:p>
            <a:pPr lvl="1"/>
            <a:r>
              <a:rPr lang="en-US" altLang="en-US"/>
              <a:t>/var/lib/mysql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Docker Networking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Docker containers can communicate using Docker networks.</a:t>
            </a:r>
            <a:endParaRPr lang="en-US" altLang="en-US"/>
          </a:p>
          <a:p>
            <a:r>
              <a:rPr lang="en-US" altLang="en-US"/>
              <a:t>A bridge network is a common Docker network type.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10" y="2580640"/>
            <a:ext cx="6032500" cy="37509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Docker Compose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5335" y="1490345"/>
            <a:ext cx="590740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Deploying MySQL on Docker - 2 Marks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 lnSpcReduction="20000"/>
          </a:bodyPr>
          <a:p>
            <a:r>
              <a:rPr lang="en-US" altLang="en-US"/>
              <a:t>Step 1: Pull MySQL image</a:t>
            </a:r>
            <a:endParaRPr lang="en-US" altLang="en-US"/>
          </a:p>
          <a:p>
            <a:pPr lvl="1"/>
            <a:r>
              <a:rPr lang="en-US" altLang="en-US"/>
              <a:t>docker pull mysql/mysql-server:5.7</a:t>
            </a:r>
            <a:endParaRPr lang="en-US" altLang="en-US"/>
          </a:p>
          <a:p>
            <a:r>
              <a:rPr lang="en-US" altLang="en-US"/>
              <a:t>Step 2: Run MySQL container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Host Machine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localhost:3406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  |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  ↓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Docker Container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MySQL :3306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  |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  ↓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/var/lib/mysql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  |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      ↓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Persistent Volume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Get MySQL Container Logs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2160" y="1494790"/>
            <a:ext cx="7347585" cy="45516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docker exec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docker exec allows you to execute a command inside a running container.</a:t>
            </a:r>
            <a:endParaRPr lang="en-US" altLang="en-US"/>
          </a:p>
          <a:p>
            <a:r>
              <a:rPr lang="en-US" altLang="en-US"/>
              <a:t>Example:</a:t>
            </a:r>
            <a:endParaRPr lang="en-US" altLang="en-US"/>
          </a:p>
          <a:p>
            <a:pPr lvl="1"/>
            <a:r>
              <a:rPr lang="en-US" altLang="en-US"/>
              <a:t>docker exec -it database mysql -uroot -p</a:t>
            </a:r>
            <a:endParaRPr lang="en-US" altLang="en-US"/>
          </a:p>
          <a:p>
            <a:r>
              <a:rPr lang="en-US" altLang="en-US"/>
              <a:t>Meaning:</a:t>
            </a:r>
            <a:endParaRPr lang="en-US" altLang="en-US"/>
          </a:p>
          <a:p>
            <a:pPr lvl="1"/>
            <a:r>
              <a:rPr lang="en-US" altLang="en-US"/>
              <a:t>exec → execute command</a:t>
            </a:r>
            <a:endParaRPr lang="en-US" altLang="en-US"/>
          </a:p>
          <a:p>
            <a:pPr lvl="1"/>
            <a:r>
              <a:rPr lang="en-US" altLang="en-US"/>
              <a:t>-i → interactive</a:t>
            </a:r>
            <a:endParaRPr lang="en-US" altLang="en-US"/>
          </a:p>
          <a:p>
            <a:pPr lvl="1"/>
            <a:r>
              <a:rPr lang="en-US" altLang="en-US"/>
              <a:t>-t → terminal</a:t>
            </a:r>
            <a:endParaRPr lang="en-US" altLang="en-US"/>
          </a:p>
          <a:p>
            <a:pPr lvl="1"/>
            <a:r>
              <a:rPr lang="en-US" altLang="en-US"/>
              <a:t>database → container name</a:t>
            </a:r>
            <a:endParaRPr lang="en-US" altLang="en-US"/>
          </a:p>
          <a:p>
            <a:pPr lvl="1"/>
            <a:r>
              <a:rPr lang="en-US" altLang="en-US"/>
              <a:t>mysql -uroot -p → MySQL client command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Stop and Remove MySQL Container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en-US"/>
              <a:t>Stop:</a:t>
            </a:r>
            <a:endParaRPr lang="en-US" altLang="en-US"/>
          </a:p>
          <a:p>
            <a:pPr lvl="1"/>
            <a:r>
              <a:rPr lang="en-US" altLang="en-US"/>
              <a:t>docker stop database</a:t>
            </a:r>
            <a:endParaRPr lang="en-US" altLang="en-US"/>
          </a:p>
          <a:p>
            <a:r>
              <a:rPr lang="en-US" altLang="en-US"/>
              <a:t>Remove:</a:t>
            </a:r>
            <a:endParaRPr lang="en-US" altLang="en-US"/>
          </a:p>
          <a:p>
            <a:pPr lvl="1"/>
            <a:r>
              <a:rPr lang="en-US" altLang="en-US"/>
              <a:t>docker rm database</a:t>
            </a:r>
            <a:endParaRPr lang="en-US" altLang="en-US"/>
          </a:p>
          <a:p>
            <a:pPr lvl="1"/>
            <a:endParaRPr lang="en-US" altLang="en-US"/>
          </a:p>
          <a:p>
            <a:pPr lvl="0"/>
            <a:r>
              <a:rPr lang="en-US" altLang="en-US"/>
              <a:t>Creating Your Own MySQL Image :</a:t>
            </a:r>
            <a:endParaRPr lang="en-US" altLang="en-US"/>
          </a:p>
          <a:p>
            <a:pPr lvl="1"/>
            <a:r>
              <a:rPr lang="en-US" altLang="en-US"/>
              <a:t>ROM mysql/mysql-server:5.7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ENV MYSQL_DATABASE=test</a:t>
            </a:r>
            <a:endParaRPr lang="en-US" altLang="en-US"/>
          </a:p>
          <a:p>
            <a:pPr lvl="1"/>
            <a:r>
              <a:rPr lang="en-US" altLang="en-US"/>
              <a:t>ENV MYSQL_ROOT_PASSWORD=yourpassword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COPY mydata.sql /docker-entrypoint-initdb.d/</a:t>
            </a:r>
            <a:endParaRPr lang="en-US" altLang="en-US"/>
          </a:p>
          <a:p>
            <a:pPr lvl="1"/>
            <a:r>
              <a:rPr lang="en-US" altLang="en-US"/>
              <a:t>COPY grant.sql /docker-entrypoint-initdb.d/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Docker Demon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60000"/>
          </a:bodyPr>
          <a:p>
            <a:r>
              <a:rPr lang="en-US" altLang="en-US"/>
              <a:t>The Docker Daemon (dockerd) is the background service of Docker that manages the lifecycle of Docker containers.</a:t>
            </a:r>
            <a:endParaRPr lang="en-US" altLang="en-US"/>
          </a:p>
          <a:p>
            <a:r>
              <a:rPr lang="en-US" altLang="en-US"/>
              <a:t>It continuously runs in the background and receives requests from the Docker Client.</a:t>
            </a:r>
            <a:endParaRPr lang="en-US" altLang="en-US"/>
          </a:p>
          <a:p>
            <a:r>
              <a:rPr lang="en-US" altLang="en-US"/>
              <a:t>Container Lifecycle Management</a:t>
            </a:r>
            <a:endParaRPr lang="en-US" altLang="en-US"/>
          </a:p>
          <a:p>
            <a:pPr lvl="1"/>
            <a:r>
              <a:rPr lang="en-US" altLang="en-US"/>
              <a:t>The Docker Daemon manages all major stages of a container's lifecycle:</a:t>
            </a:r>
            <a:endParaRPr lang="en-US" altLang="en-US"/>
          </a:p>
          <a:p>
            <a:pPr lvl="1"/>
            <a:r>
              <a:rPr lang="en-US" altLang="en-US"/>
              <a:t>Docker Client</a:t>
            </a:r>
            <a:endParaRPr lang="en-US" altLang="en-US"/>
          </a:p>
          <a:p>
            <a:pPr lvl="1"/>
            <a:r>
              <a:rPr lang="en-US" altLang="en-US"/>
              <a:t>     │</a:t>
            </a:r>
            <a:endParaRPr lang="en-US" altLang="en-US"/>
          </a:p>
          <a:p>
            <a:pPr lvl="1"/>
            <a:r>
              <a:rPr lang="en-US" altLang="en-US"/>
              <a:t>     │ Commands</a:t>
            </a:r>
            <a:endParaRPr lang="en-US" altLang="en-US"/>
          </a:p>
          <a:p>
            <a:pPr lvl="1"/>
            <a:r>
              <a:rPr lang="en-US" altLang="en-US"/>
              <a:t>     ▼</a:t>
            </a:r>
            <a:endParaRPr lang="en-US" altLang="en-US"/>
          </a:p>
          <a:p>
            <a:pPr lvl="1"/>
            <a:r>
              <a:rPr lang="en-US" altLang="en-US"/>
              <a:t>Docker Daemon (dockerd)</a:t>
            </a:r>
            <a:endParaRPr lang="en-US" altLang="en-US"/>
          </a:p>
          <a:p>
            <a:pPr lvl="1"/>
            <a:r>
              <a:rPr lang="en-US" altLang="en-US"/>
              <a:t>     │</a:t>
            </a:r>
            <a:endParaRPr lang="en-US" altLang="en-US"/>
          </a:p>
          <a:p>
            <a:pPr lvl="1"/>
            <a:r>
              <a:rPr lang="en-US" altLang="en-US"/>
              <a:t>     ├── Create Container</a:t>
            </a:r>
            <a:endParaRPr lang="en-US" altLang="en-US"/>
          </a:p>
          <a:p>
            <a:pPr lvl="1"/>
            <a:r>
              <a:rPr lang="en-US" altLang="en-US"/>
              <a:t>     ├── Start Container</a:t>
            </a:r>
            <a:endParaRPr lang="en-US" altLang="en-US"/>
          </a:p>
          <a:p>
            <a:pPr lvl="1"/>
            <a:r>
              <a:rPr lang="en-US" altLang="en-US"/>
              <a:t>     ├── Stop Container</a:t>
            </a:r>
            <a:endParaRPr lang="en-US" altLang="en-US"/>
          </a:p>
          <a:p>
            <a:pPr lvl="1"/>
            <a:r>
              <a:rPr lang="en-US" altLang="en-US"/>
              <a:t>     ├── Restart Container</a:t>
            </a:r>
            <a:endParaRPr lang="en-US" altLang="en-US"/>
          </a:p>
          <a:p>
            <a:pPr lvl="1"/>
            <a:r>
              <a:rPr lang="en-US" altLang="en-US"/>
              <a:t>     ├── Remove Container</a:t>
            </a:r>
            <a:endParaRPr lang="en-US" altLang="en-US"/>
          </a:p>
          <a:p>
            <a:pPr lvl="1"/>
            <a:r>
              <a:rPr lang="en-US" altLang="en-US"/>
              <a:t>     └── Manage Container Resources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502920"/>
            <a:ext cx="10968990" cy="5746750"/>
          </a:xfrm>
        </p:spPr>
        <p:txBody>
          <a:bodyPr/>
          <a:p>
            <a:r>
              <a:rPr lang="en-US" altLang="en-US"/>
              <a:t>Example:</a:t>
            </a:r>
            <a:endParaRPr lang="en-US" altLang="en-US"/>
          </a:p>
          <a:p>
            <a:r>
              <a:rPr lang="en-US" altLang="en-US"/>
              <a:t>When you run:</a:t>
            </a:r>
            <a:endParaRPr lang="en-US" altLang="en-US"/>
          </a:p>
          <a:p>
            <a:pPr lvl="1"/>
            <a:r>
              <a:rPr lang="en-US" altLang="en-US"/>
              <a:t>docker run -d nginx</a:t>
            </a:r>
            <a:endParaRPr lang="en-US" altLang="en-US"/>
          </a:p>
          <a:p>
            <a:r>
              <a:rPr lang="en-US" altLang="en-US"/>
              <a:t>The Docker Client sends the request to the Docker Daemon. The daemon then:</a:t>
            </a:r>
            <a:endParaRPr lang="en-US" altLang="en-US"/>
          </a:p>
          <a:p>
            <a:pPr lvl="1"/>
            <a:r>
              <a:rPr lang="en-US" altLang="en-US"/>
              <a:t>Finds/pulls the nginx image if required.</a:t>
            </a:r>
            <a:endParaRPr lang="en-US" altLang="en-US"/>
          </a:p>
          <a:p>
            <a:pPr lvl="1"/>
            <a:r>
              <a:rPr lang="en-US" altLang="en-US"/>
              <a:t>Creates a container from the image.</a:t>
            </a:r>
            <a:endParaRPr lang="en-US" altLang="en-US"/>
          </a:p>
          <a:p>
            <a:pPr lvl="1"/>
            <a:r>
              <a:rPr lang="en-US" altLang="en-US"/>
              <a:t>Allocates required resources.</a:t>
            </a:r>
            <a:endParaRPr lang="en-US" altLang="en-US"/>
          </a:p>
          <a:p>
            <a:pPr lvl="1"/>
            <a:r>
              <a:rPr lang="en-US" altLang="en-US"/>
              <a:t>Starts the container.</a:t>
            </a:r>
            <a:endParaRPr lang="en-US" altLang="en-US"/>
          </a:p>
          <a:p>
            <a:pPr lvl="1"/>
            <a:r>
              <a:rPr lang="en-US" altLang="en-US"/>
              <a:t>Monitors and manages the running container.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4898</Words>
  <Application>WPS Presentation</Application>
  <PresentationFormat>Widescreen</PresentationFormat>
  <Paragraphs>254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4" baseType="lpstr">
      <vt:lpstr>Arial</vt:lpstr>
      <vt:lpstr>SimSun</vt:lpstr>
      <vt:lpstr>Wingdings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-webkit-standard</vt:lpstr>
      <vt:lpstr>Thonburi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Basics</dc:title>
  <dc:creator>suratwalavraj</dc:creator>
  <cp:lastModifiedBy>Vraj Suratwala</cp:lastModifiedBy>
  <cp:revision>14</cp:revision>
  <dcterms:created xsi:type="dcterms:W3CDTF">2026-09-08T15:29:25Z</dcterms:created>
  <dcterms:modified xsi:type="dcterms:W3CDTF">2026-09-08T15:29:25Z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F188C36C9F5BA6EE8323A06AC4892B7A_41</vt:lpwstr>
  </property>
</Properties>
</file>